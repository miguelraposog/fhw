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2" r:id="rId1"/>
  </p:sldMasterIdLst>
  <p:sldIdLst>
    <p:sldId id="256" r:id="rId2"/>
    <p:sldId id="257" r:id="rId3"/>
    <p:sldId id="26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8" r:id="rId13"/>
    <p:sldId id="269" r:id="rId14"/>
    <p:sldId id="270" r:id="rId15"/>
    <p:sldId id="271" r:id="rId16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74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342FE-E00B-4FAF-8F73-F722060EBA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2600" y="978408"/>
            <a:ext cx="10506991" cy="2531555"/>
          </a:xfrm>
          <a:prstGeom prst="rect">
            <a:avLst/>
          </a:prstGeom>
        </p:spPr>
        <p:txBody>
          <a:bodyPr anchor="b"/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C1CCE2-4461-473E-B23C-34C8CCF04B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2600" y="3602038"/>
            <a:ext cx="10506991" cy="2277554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AA551A-CE2F-4E35-A714-B1F04D4B4E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B5C907-6594-4DFF-A32B-449C3BA96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376D75-E9DA-4660-AC52-51BA63FCB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‹Nº›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2EFA84C-D756-4DC7-AA46-68D776F37F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54018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43735-A77F-440D-9448-6AE7C204D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978408"/>
            <a:ext cx="10634472" cy="2157984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6C6EE-D55E-454B-B28C-EC73D1DB4A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2A2905-6D2E-4319-9521-61452AB8F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AC7550-84E8-49D3-B419-6F5F327DA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AD2C6B-EA5D-4D97-BC84-6C860D536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6502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61B299E6-11CC-4181-86C3-528A13F1F5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1007" y="3922232"/>
            <a:ext cx="11147071" cy="2434825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803473-0A64-4F9F-833B-8D64E3901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978409"/>
            <a:ext cx="10515600" cy="2716769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873736-B424-40F2-B562-6DC10E5EDE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2600" y="4171445"/>
            <a:ext cx="10515600" cy="1918205"/>
          </a:xfrm>
        </p:spPr>
        <p:txBody>
          <a:bodyPr>
            <a:normAutofit/>
          </a:bodyPr>
          <a:lstStyle>
            <a:lvl1pPr marL="0" indent="0">
              <a:buNone/>
              <a:defRPr lang="en-US" sz="24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348851-37C0-478D-B722-D76C817DC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3E063E-66CE-4C18-91FA-D14AE052D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A66D3D-FD62-470C-BC3C-A03771A32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‹Nº›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DFF0049-0231-4557-A707-569556F0CA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1007" y="3922232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57A0DB1-87C8-4BF4-B2A2-F9CA6ED05A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6368138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6C29209-8A8F-48A7-8BA2-AFADA37CB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1007" y="6368138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18454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6166BE9C-AE7C-4C39-9694-C32D6939B9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1007" y="483577"/>
            <a:ext cx="11147071" cy="2434824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ACC42C-303A-4BDF-990A-2B07967BC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599" y="978408"/>
            <a:ext cx="11147071" cy="17552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C55CEF-353E-4E14-83AD-ACADDC08D9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82600" y="3103131"/>
            <a:ext cx="5418551" cy="30738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55ECEF-9654-4AC1-BF77-7BC602BBD4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11120" y="3103131"/>
            <a:ext cx="5418551" cy="30738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922FC8-BC06-407B-A82B-DA62B33A1C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15B701-4E1F-48AA-8A3C-ED5DD9151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6BCA31-8AC7-46F5-BCAB-41D54DF83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‹Nº›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1BA86D8-2A29-4A0E-AEA0-39B41C4187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2918401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085E13E-918A-4D04-9E84-94148D7C87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55005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5E892-D975-4DD6-8583-A14DDBE85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631" y="978407"/>
            <a:ext cx="11145039" cy="1339584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1F7700-CECC-4881-BE5C-A13CD825B7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4632" y="2500921"/>
            <a:ext cx="5346222" cy="823912"/>
          </a:xfrm>
        </p:spPr>
        <p:txBody>
          <a:bodyPr anchor="b">
            <a:normAutofit/>
          </a:bodyPr>
          <a:lstStyle>
            <a:lvl1pPr marL="0" indent="0">
              <a:buNone/>
              <a:defRPr lang="en-US" sz="2400" b="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A50766-520A-44C5-943E-569222B741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4632" y="3428999"/>
            <a:ext cx="5346222" cy="27606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2F7E42-976A-4239-8006-D68538D4B7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57120" y="2500921"/>
            <a:ext cx="5372551" cy="823912"/>
          </a:xfrm>
        </p:spPr>
        <p:txBody>
          <a:bodyPr anchor="b"/>
          <a:lstStyle>
            <a:lvl1pPr marL="0" indent="0">
              <a:buNone/>
              <a:defRPr lang="en-US" sz="2400" b="0" i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8CA329-951F-4391-ADC5-7EA320B778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57120" y="3428999"/>
            <a:ext cx="5372551" cy="27606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BEC22A-DA46-460C-B865-D928C20AE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EB2D647-42C5-4AB7-BB71-3A4406571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4632" y="6419088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0B2B67-714C-46DA-85E5-598B4244D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89591" y="-7190"/>
            <a:ext cx="640080" cy="365125"/>
          </a:xfrm>
        </p:spPr>
        <p:txBody>
          <a:bodyPr/>
          <a:lstStyle/>
          <a:p>
            <a:fld id="{60553ECD-7F6D-420D-93CA-D8D15EB427A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0441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D4B6724-AB30-4E7C-BE2B-ECD94FF1B4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1007" y="3933311"/>
            <a:ext cx="11147071" cy="2434825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1D4BAB-2678-4A19-A575-C47CAF144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978408"/>
            <a:ext cx="10634472" cy="2591509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47C89E-0ABD-4FD2-924C-894345ADF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3026CE-9CC8-403B-88B1-184D16532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B3D616-3C18-401B-A792-E75149FDF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‹Nº›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4EC6F70-D800-4067-A36A-5BBFC8018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3933311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2B66CB6-8988-4FBA-8524-726765A5F2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1007" y="6368138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65046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5C73F84-0C6B-4EF4-9405-C38982499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CCEC807-744E-4C5C-8B15-09AED3E57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FBCB19-9F4B-474C-85C1-4A645A971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1706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A88B0-DD6B-449B-AE32-D3192081E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632" y="978408"/>
            <a:ext cx="4287393" cy="2450592"/>
          </a:xfrm>
          <a:prstGeom prst="rect">
            <a:avLst/>
          </a:prstGeom>
        </p:spPr>
        <p:txBody>
          <a:bodyPr anchor="b"/>
          <a:lstStyle>
            <a:lvl1pPr>
              <a:defRPr lang="en-US" sz="5400" kern="120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F22ED6-5B69-4B3B-BF96-3A75F2107F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7" y="987425"/>
            <a:ext cx="6446484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704043-D45F-440A-A15D-2718A913E0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4632" y="3645074"/>
            <a:ext cx="4287393" cy="2223914"/>
          </a:xfrm>
        </p:spPr>
        <p:txBody>
          <a:bodyPr/>
          <a:lstStyle>
            <a:lvl1pPr marL="0" indent="0">
              <a:buNone/>
              <a:defRPr lang="en-US" sz="24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0072DC-7326-43E7-806C-B690C439E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F89A0F-B8C6-4AA6-A9C4-4A454F422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57A616-A4F2-4FC5-88DE-B4E6BA542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3310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B773D-D007-4687-BA9C-9F229829B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632" y="978407"/>
            <a:ext cx="4287393" cy="2450593"/>
          </a:xfrm>
          <a:prstGeom prst="rect">
            <a:avLst/>
          </a:prstGeom>
        </p:spPr>
        <p:txBody>
          <a:bodyPr anchor="b"/>
          <a:lstStyle>
            <a:lvl1pPr>
              <a:defRPr lang="en-US" sz="5400" kern="120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A3A75FC-78D2-4EF5-884F-11B7BACF79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7" y="987425"/>
            <a:ext cx="6446483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7CE0BB-D335-4391-A23F-194C575CAF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4632" y="3645074"/>
            <a:ext cx="4287393" cy="2223914"/>
          </a:xfrm>
        </p:spPr>
        <p:txBody>
          <a:bodyPr/>
          <a:lstStyle>
            <a:lvl1pPr marL="0" indent="0">
              <a:buNone/>
              <a:defRPr lang="en-US" sz="2400" i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7701E1-B97B-4DA5-B9AD-07B7C1247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6D9CF8-F42F-4618-9F26-8BFE56487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CA2023-1ECA-4A96-BDC7-F7FA4368B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0433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1999A10-4355-4A13-B008-196B21ABEE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2600" y="483576"/>
            <a:ext cx="11147071" cy="2434825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36D448-AFEA-4483-B0E4-002840525C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978408"/>
            <a:ext cx="10506991" cy="17552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216234-4516-4303-8F60-A8127D89A5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84192" y="3103131"/>
            <a:ext cx="10506991" cy="309294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6B5D50-A474-462B-A807-DF186B1C2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BF1DAF-2E2D-46ED-AA3E-3D2FE4039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2FC771-EB13-4EB5-A0A2-3968C6ABB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‹Nº›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3B596B8-8230-4695-8D76-F06AFA8156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2918401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53EBF93-5FD9-4F4E-8485-7B937145C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83739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6B4D06-C7C6-4949-8EB2-F03ED999A2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041710" y="978408"/>
            <a:ext cx="2947881" cy="5124777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921B9D-8C11-4176-AF22-89F972E212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84632" y="978408"/>
            <a:ext cx="7256453" cy="51247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FA9E1C-8E18-4A35-9BD8-427B1D14B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116CDB-7BB6-4DD2-A626-6DA8E569F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D0403B-439E-449F-83B1-799EEC239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6235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87A535-3CAC-46BC-B2B2-3AE83EC3A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978408"/>
            <a:ext cx="10506991" cy="215309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8EBDBD-59EC-46ED-BE79-6D37B531D6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2600" y="3306870"/>
            <a:ext cx="10506991" cy="25727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921F5C-FD3D-42C7-90F4-5ECE6FFCFE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84632" y="10058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81B8F32D-D8B6-4B9E-9CBF-DCAC30B7B93D}" type="datetimeFigureOut">
              <a:rPr lang="en-US" smtClean="0"/>
              <a:pPr/>
              <a:t>2/20/2026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E63D50-6D0B-4963-97B9-A32AE63235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4632" y="6419088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6B5E08-CAC3-4C87-B143-5F8956AE90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89591" y="1005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60553ECD-7F6D-420D-93CA-D8D15EB427AC}" type="slidenum">
              <a:rPr lang="en-US" smtClean="0"/>
              <a:pPr/>
              <a:t>‹Nº›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08D74AC-B125-4E11-BA53-E9E38396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DC76EBE-FB9D-4054-B5D8-19E3EAFE4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6368138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19537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42" r:id="rId2"/>
    <p:sldLayoutId id="2147483743" r:id="rId3"/>
    <p:sldLayoutId id="2147483744" r:id="rId4"/>
    <p:sldLayoutId id="2147483745" r:id="rId5"/>
    <p:sldLayoutId id="2147483746" r:id="rId6"/>
    <p:sldLayoutId id="2147483747" r:id="rId7"/>
    <p:sldLayoutId id="2147483748" r:id="rId8"/>
    <p:sldLayoutId id="2147483749" r:id="rId9"/>
    <p:sldLayoutId id="2147483750" r:id="rId10"/>
    <p:sldLayoutId id="2147483751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20BB609-EF92-42DB-836C-0699A590B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0FA88D0-E295-4CF3-934C-6423EACEB0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CA488D5-C8FB-27B5-C1E6-D7A513ECA0C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15243" r="-1" b="26301"/>
          <a:stretch>
            <a:fillRect/>
          </a:stretch>
        </p:blipFill>
        <p:spPr>
          <a:xfrm>
            <a:off x="20" y="10"/>
            <a:ext cx="12188932" cy="685799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06A71E21-6EAB-7082-603E-60B0AF6A08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2600" y="732032"/>
            <a:ext cx="6900839" cy="2736390"/>
          </a:xfrm>
        </p:spPr>
        <p:txBody>
          <a:bodyPr anchor="t">
            <a:normAutofit/>
          </a:bodyPr>
          <a:lstStyle/>
          <a:p>
            <a:r>
              <a:rPr lang="es-ES" sz="8000" dirty="0">
                <a:solidFill>
                  <a:srgbClr val="FFFFFF"/>
                </a:solidFill>
              </a:rPr>
              <a:t>PC OFICINA Y MINI PC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234E7FB-A146-E774-715C-44A17F1684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96565" y="4201721"/>
            <a:ext cx="4986084" cy="1949813"/>
          </a:xfrm>
        </p:spPr>
        <p:txBody>
          <a:bodyPr anchor="b">
            <a:normAutofit/>
          </a:bodyPr>
          <a:lstStyle/>
          <a:p>
            <a:pPr algn="r"/>
            <a:r>
              <a:rPr lang="es-ES" dirty="0">
                <a:solidFill>
                  <a:srgbClr val="FFFFFF"/>
                </a:solidFill>
              </a:rPr>
              <a:t>20/02/2026</a:t>
            </a:r>
          </a:p>
          <a:p>
            <a:pPr algn="r"/>
            <a:r>
              <a:rPr lang="es-ES" dirty="0">
                <a:solidFill>
                  <a:srgbClr val="FFFFFF"/>
                </a:solidFill>
              </a:rPr>
              <a:t>1ºASIR   1ºGRUPO</a:t>
            </a:r>
          </a:p>
          <a:p>
            <a:pPr algn="r"/>
            <a:r>
              <a:rPr lang="es-ES" dirty="0">
                <a:solidFill>
                  <a:srgbClr val="FFFFFF"/>
                </a:solidFill>
              </a:rPr>
              <a:t>MIGUEL RAPOSO GARCÍA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F4E56A8-93D5-4BE3-AE61-84677331AD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rgbClr val="FFFFF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D492A0C-1773-477B-83B5-C707CB0577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6368138"/>
            <a:ext cx="11147071" cy="0"/>
          </a:xfrm>
          <a:prstGeom prst="line">
            <a:avLst/>
          </a:prstGeom>
          <a:ln w="28575">
            <a:solidFill>
              <a:srgbClr val="FFFFF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20305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E4AEC7-A3C0-C7B6-524E-2B185CD7D8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-100583"/>
            <a:ext cx="10634472" cy="2157984"/>
          </a:xfrm>
        </p:spPr>
        <p:txBody>
          <a:bodyPr/>
          <a:lstStyle/>
          <a:p>
            <a:r>
              <a:rPr lang="es-ES" dirty="0"/>
              <a:t>OBJETIVO Y REQUISITOS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99CE315-344C-7D1A-8AE3-9F56880173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601" y="2327894"/>
            <a:ext cx="11139464" cy="3551697"/>
          </a:xfrm>
        </p:spPr>
        <p:txBody>
          <a:bodyPr>
            <a:normAutofit/>
          </a:bodyPr>
          <a:lstStyle/>
          <a:p>
            <a:r>
              <a:rPr lang="es-ES" dirty="0"/>
              <a:t>OBJETIVO: PC para oficina, con precio ajustado y componentes razonables.</a:t>
            </a:r>
          </a:p>
          <a:p>
            <a:endParaRPr lang="es-ES" dirty="0"/>
          </a:p>
          <a:p>
            <a:r>
              <a:rPr lang="es-ES" dirty="0"/>
              <a:t>OPCIÓN A: PC por piezas				OPCION B: Mini PC ya construido</a:t>
            </a:r>
          </a:p>
        </p:txBody>
      </p:sp>
      <p:pic>
        <p:nvPicPr>
          <p:cNvPr id="1026" name="Picture 2" descr="Torre PC Nox Coolbay MX2 USB 3.0 Negro | PcComponentes.com">
            <a:extLst>
              <a:ext uri="{FF2B5EF4-FFF2-40B4-BE49-F238E27FC236}">
                <a16:creationId xmlns:a16="http://schemas.microsoft.com/office/drawing/2014/main" id="{B462A278-B57B-EEC5-865C-EE8C20F793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180" y="3862754"/>
            <a:ext cx="2172287" cy="21722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Beelink Mini S12 Mini PC, Intel Alder Lake-N N95 (4C/4T, hasta 3,4GHz) 16GB  DDR4 RAM 500GB M.2 2280 SSD, Mini Ordenador de Sobremesa 4K 60Hz Doble  HDMI, WiFi5, Bluetooth 4.2, 2.5G LAN :">
            <a:extLst>
              <a:ext uri="{FF2B5EF4-FFF2-40B4-BE49-F238E27FC236}">
                <a16:creationId xmlns:a16="http://schemas.microsoft.com/office/drawing/2014/main" id="{54D1F7B2-D7D1-A9BE-96A9-99A414BEAC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1839" y="4071893"/>
            <a:ext cx="2635201" cy="20456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209238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1D3DF1-C6B7-B442-AE8E-8BB2E9E35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BE591F-0BF3-3865-B017-AFBB9E4B5D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8764" y="489139"/>
            <a:ext cx="10634472" cy="2157984"/>
          </a:xfrm>
        </p:spPr>
        <p:txBody>
          <a:bodyPr/>
          <a:lstStyle/>
          <a:p>
            <a:r>
              <a:rPr lang="es-ES" dirty="0"/>
              <a:t>OPCIÓN A: PC por piezas</a:t>
            </a: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8B9DA615-ABBD-1D6D-57D3-6F154811B2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8764" y="3057943"/>
            <a:ext cx="10506991" cy="2572721"/>
          </a:xfrm>
        </p:spPr>
        <p:txBody>
          <a:bodyPr/>
          <a:lstStyle/>
          <a:p>
            <a:r>
              <a:rPr lang="es-ES" dirty="0"/>
              <a:t>He priorizado el precio principalmente y hay posibilidad de ampliación en la RAM para ponerle un modulo más y así ampliarlo hasta los 16GB o incluirle alguna tarjeta de expansión.</a:t>
            </a:r>
          </a:p>
        </p:txBody>
      </p:sp>
    </p:spTree>
    <p:extLst>
      <p:ext uri="{BB962C8B-B14F-4D97-AF65-F5344CB8AC3E}">
        <p14:creationId xmlns:p14="http://schemas.microsoft.com/office/powerpoint/2010/main" val="31855350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289421-8D22-6EDC-C417-D1900D50D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BA22EF-6F27-3E77-193C-A71DC9B59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-100583"/>
            <a:ext cx="10634472" cy="2157984"/>
          </a:xfrm>
        </p:spPr>
        <p:txBody>
          <a:bodyPr/>
          <a:lstStyle/>
          <a:p>
            <a:r>
              <a:rPr lang="es-ES" dirty="0"/>
              <a:t>CPU: </a:t>
            </a:r>
            <a:r>
              <a:rPr lang="es-ES" sz="3600" dirty="0"/>
              <a:t>Intel Core i3-12100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94BE792-C651-1D64-281F-458296E05E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601" y="1802296"/>
            <a:ext cx="11139464" cy="4077295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dirty="0"/>
              <a:t>Precio: 158,99€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dirty="0"/>
              <a:t>Socket: LGA 1700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dirty="0"/>
              <a:t>Cores: 4 (P-</a:t>
            </a:r>
            <a:r>
              <a:rPr lang="es-ES" dirty="0" err="1"/>
              <a:t>cores</a:t>
            </a:r>
            <a:r>
              <a:rPr lang="es-ES" dirty="0"/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dirty="0"/>
              <a:t>Hilos: 8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/>
              <a:t>Velocidad</a:t>
            </a:r>
            <a:r>
              <a:rPr lang="en-US" dirty="0"/>
              <a:t> de memoria </a:t>
            </a:r>
            <a:r>
              <a:rPr lang="en-US" dirty="0" err="1"/>
              <a:t>máxima</a:t>
            </a:r>
            <a:r>
              <a:rPr lang="en-US" dirty="0"/>
              <a:t> (MT/s): DDR5 4800 DDR4 3200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dirty="0" err="1"/>
              <a:t>Graficos</a:t>
            </a:r>
            <a:r>
              <a:rPr lang="es-ES" dirty="0"/>
              <a:t>: Intel® UHD </a:t>
            </a:r>
            <a:r>
              <a:rPr lang="es-ES" dirty="0" err="1"/>
              <a:t>Graphics</a:t>
            </a:r>
            <a:r>
              <a:rPr lang="es-ES" dirty="0"/>
              <a:t> 730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dirty="0"/>
              <a:t>Frecuencia: 3.3 GHz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1400" dirty="0"/>
              <a:t>https://www.pccomponentes.com/intel-core-i3-12100-33-ghz?srsltid=AfmBOoqvCjgVM_VrjN1GQjCJnp3KAUmAot8CDU8VY7G_ablPrVmNkWir</a:t>
            </a:r>
            <a:endParaRPr lang="en-US" sz="1400" dirty="0"/>
          </a:p>
          <a:p>
            <a:endParaRPr lang="es-ES" dirty="0"/>
          </a:p>
        </p:txBody>
      </p:sp>
      <p:pic>
        <p:nvPicPr>
          <p:cNvPr id="2050" name="Picture 2" descr="Intel Core i3 12100 Processor 12th Gen | Taipei For Computers - Jordan">
            <a:extLst>
              <a:ext uri="{FF2B5EF4-FFF2-40B4-BE49-F238E27FC236}">
                <a16:creationId xmlns:a16="http://schemas.microsoft.com/office/drawing/2014/main" id="{B9518721-2006-3CED-BCBE-B815FE20A0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9809" y="671996"/>
            <a:ext cx="3094291" cy="30942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554686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FDB546-CCB6-CF33-928D-2C9CC5E980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658894-0421-BDD4-0F4A-F2AEAE2D7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1" y="100913"/>
            <a:ext cx="10634472" cy="2157984"/>
          </a:xfrm>
        </p:spPr>
        <p:txBody>
          <a:bodyPr/>
          <a:lstStyle/>
          <a:p>
            <a:r>
              <a:rPr lang="es-ES" dirty="0"/>
              <a:t>MOTHERBOARD: </a:t>
            </a:r>
            <a:br>
              <a:rPr lang="es-ES" dirty="0"/>
            </a:br>
            <a:r>
              <a:rPr lang="es-ES" sz="3600" dirty="0"/>
              <a:t>MSI PRO H610M-G DDR4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548174E-447D-E9FC-B5BC-DDE1A09B57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601" y="2206487"/>
            <a:ext cx="11139464" cy="3673104"/>
          </a:xfrm>
        </p:spPr>
        <p:txBody>
          <a:bodyPr>
            <a:normAutofit fontScale="92500"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dirty="0"/>
              <a:t>Precio: 73,99€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/>
              <a:t>Factor de forma: micro ATX</a:t>
            </a:r>
            <a:endParaRPr lang="es-E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dirty="0"/>
              <a:t>Socket: LGA 1700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dirty="0"/>
              <a:t>Tipos de memoria compatibles: DDR4-SDRAM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dirty="0"/>
              <a:t>Número de ranuras de memoria: 2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dirty="0"/>
              <a:t>Velocidad máxima: 3200 MHz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dirty="0"/>
              <a:t>Interfaces de disco de almacenamiento soportados: M.2,SATA III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dirty="0"/>
              <a:t>Puertos HDMI, DisplayPort, VGA, RJ-45 y USB 2.0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1100" dirty="0"/>
              <a:t>https://www.pccomponentes.com/msi-pro-h610m-g-ddr4?s_kwcid=AL!14405!3!!!!x!!&amp;gad_source=1&amp;gad_campaignid=22157318807&amp;gclid=Cj0KCQiAhtvMBhDBARIsAL26pjH_d2AtYqhedEdlw12-XIibXHVSjS_T_MbXMjtM2hFdqKZlIHUjcGgaAobbEALw_wcB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s-ES" dirty="0"/>
          </a:p>
        </p:txBody>
      </p:sp>
      <p:pic>
        <p:nvPicPr>
          <p:cNvPr id="3074" name="Picture 2" descr="PRO H610M-G DDR4 : Amazon.es: Electrónica">
            <a:extLst>
              <a:ext uri="{FF2B5EF4-FFF2-40B4-BE49-F238E27FC236}">
                <a16:creationId xmlns:a16="http://schemas.microsoft.com/office/drawing/2014/main" id="{7DF4B2EC-BBB7-CF85-0A73-4A96821BEA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0634" y="1140149"/>
            <a:ext cx="4301431" cy="25636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021881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CF862D-1D6C-A402-7BD4-DB673B567A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E66391-4B51-2A88-3072-DBB0ABBFCD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592" y="-7819"/>
            <a:ext cx="10634472" cy="2157984"/>
          </a:xfrm>
        </p:spPr>
        <p:txBody>
          <a:bodyPr/>
          <a:lstStyle/>
          <a:p>
            <a:r>
              <a:rPr lang="es-ES" dirty="0"/>
              <a:t>RAM: </a:t>
            </a:r>
            <a:r>
              <a:rPr lang="es-ES" sz="3200" dirty="0" err="1">
                <a:latin typeface="+mn-lt"/>
                <a:ea typeface="+mn-ea"/>
                <a:cs typeface="+mn-cs"/>
              </a:rPr>
              <a:t>Goodram</a:t>
            </a:r>
            <a:r>
              <a:rPr lang="es-ES" sz="3200" dirty="0">
                <a:latin typeface="+mn-lt"/>
                <a:ea typeface="+mn-ea"/>
                <a:cs typeface="+mn-cs"/>
              </a:rPr>
              <a:t> IRDM Pro DDR4</a:t>
            </a:r>
            <a:br>
              <a:rPr lang="es-ES" b="1" dirty="0"/>
            </a:br>
            <a:endParaRPr lang="es-ES" sz="2000" dirty="0">
              <a:latin typeface="+mn-lt"/>
              <a:ea typeface="+mn-ea"/>
              <a:cs typeface="+mn-cs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7697491-76A5-D1EC-391A-47FAC5AA58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601" y="1802296"/>
            <a:ext cx="11139464" cy="4077295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dirty="0"/>
              <a:t>Precio: 64,90€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dirty="0"/>
              <a:t>Capacidad 8 GB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dirty="0"/>
              <a:t>Frecuencia(s) memoria DDR4 3600 MHz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dirty="0"/>
              <a:t>Número de módulos de memoria 1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dirty="0"/>
              <a:t>CAS </a:t>
            </a:r>
            <a:r>
              <a:rPr lang="es-ES" dirty="0" err="1"/>
              <a:t>Latency</a:t>
            </a:r>
            <a:r>
              <a:rPr lang="es-ES" dirty="0"/>
              <a:t> 18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1400" dirty="0"/>
              <a:t>https://www.pccomponentes.com/goodram-irdm-pro-ddr4-3600mhz-8gb-cl18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s-ES" dirty="0"/>
          </a:p>
        </p:txBody>
      </p:sp>
      <p:pic>
        <p:nvPicPr>
          <p:cNvPr id="4098" name="Picture 2" descr="Memoria RAM Goodram IRDM Pro DDR4 3600MHz 8GB CL18 | PcComponentes.com">
            <a:extLst>
              <a:ext uri="{FF2B5EF4-FFF2-40B4-BE49-F238E27FC236}">
                <a16:creationId xmlns:a16="http://schemas.microsoft.com/office/drawing/2014/main" id="{F3E4155B-1D9A-5FC4-8C27-80D0A3C1679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864" b="35359"/>
          <a:stretch>
            <a:fillRect/>
          </a:stretch>
        </p:blipFill>
        <p:spPr bwMode="auto">
          <a:xfrm rot="1895551">
            <a:off x="7084765" y="2710893"/>
            <a:ext cx="4830941" cy="15834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223339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87FF7-0D08-704F-0418-DE037A9CB4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1E9B1F-6378-D4CB-7D54-07BF6728F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1" y="283729"/>
            <a:ext cx="10634472" cy="1570643"/>
          </a:xfrm>
        </p:spPr>
        <p:txBody>
          <a:bodyPr/>
          <a:lstStyle/>
          <a:p>
            <a:r>
              <a:rPr lang="es-ES" dirty="0"/>
              <a:t>SSD: </a:t>
            </a:r>
            <a:r>
              <a:rPr lang="es-ES" sz="3200" dirty="0" err="1"/>
              <a:t>Patriot</a:t>
            </a:r>
            <a:r>
              <a:rPr lang="es-ES" sz="3200" dirty="0"/>
              <a:t> P310 M.2 PCIe Gen 3 x4 240GB SSD</a:t>
            </a:r>
            <a:br>
              <a:rPr lang="es-ES" b="1" dirty="0"/>
            </a:br>
            <a:endParaRPr lang="es-ES" sz="2000" dirty="0">
              <a:latin typeface="+mn-lt"/>
              <a:ea typeface="+mn-ea"/>
              <a:cs typeface="+mn-cs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6F062B5-450A-36E8-3F04-F439F47F9B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601" y="1802296"/>
            <a:ext cx="11139464" cy="4077295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dirty="0"/>
              <a:t>Precio: 56,99€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dirty="0"/>
              <a:t>Capacidad de almacenamiento digital: 240 GB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dirty="0"/>
              <a:t>Tecnología de conectividad: </a:t>
            </a:r>
            <a:r>
              <a:rPr lang="es-ES" dirty="0" err="1"/>
              <a:t>NVMe</a:t>
            </a:r>
            <a:r>
              <a:rPr lang="es-ES" dirty="0"/>
              <a:t> PCIe M.2 Gen3 x 4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dirty="0"/>
              <a:t>Factor de forma del disco duro: 2,5 Pulgadas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1100" dirty="0"/>
              <a:t>https://www.amazon.es/Patriot-P310-PCIe-240GB-Consumo/dp/B09KY7PMCS/ref=asc_df_B09KY7PMCS?mcid=0461745d23c33311bdaad47c81063f0c&amp;tag=googshopes-21&amp;linkCode=df0&amp;hvadid=699858699962&amp;hvpos=&amp;hvnetw=g&amp;hvrand=6036154613346416529&amp;hvpone=&amp;hvptwo=&amp;hvqmt=&amp;hvdev=c&amp;hvdvcmdl=&amp;hvlocint=&amp;hvlocphy=9208723&amp;hvtargid=pla-1667599466084&amp;hvocijid=6036154613346416529-B09KY7PMCS-&amp;hvexpln=0&amp;th=1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s-ES" dirty="0"/>
          </a:p>
        </p:txBody>
      </p:sp>
      <p:pic>
        <p:nvPicPr>
          <p:cNvPr id="5122" name="Picture 2" descr="Patriot P310 M.2 PCIe Gen 3 x4 240GB SSD de bajo Consumo - P310P240GM28 :  Amazon.es: Informática">
            <a:extLst>
              <a:ext uri="{FF2B5EF4-FFF2-40B4-BE49-F238E27FC236}">
                <a16:creationId xmlns:a16="http://schemas.microsoft.com/office/drawing/2014/main" id="{49464D88-332D-AE76-64E1-DAC73DD8281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555" b="36522"/>
          <a:stretch>
            <a:fillRect/>
          </a:stretch>
        </p:blipFill>
        <p:spPr bwMode="auto">
          <a:xfrm>
            <a:off x="2474844" y="4412975"/>
            <a:ext cx="6858000" cy="19149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970871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0BB5A3-CC8F-E765-F93E-C189EB2560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FE338F-9ED7-1647-46F8-0D9E4E955E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1" y="283729"/>
            <a:ext cx="10634472" cy="1570643"/>
          </a:xfrm>
        </p:spPr>
        <p:txBody>
          <a:bodyPr/>
          <a:lstStyle/>
          <a:p>
            <a:r>
              <a:rPr lang="es-ES" dirty="0"/>
              <a:t>PSU: </a:t>
            </a:r>
            <a:r>
              <a:rPr lang="es-ES" sz="3600" dirty="0"/>
              <a:t>Gigabyte P450B 450W 80 Plus </a:t>
            </a:r>
            <a:r>
              <a:rPr lang="es-ES" sz="3600" dirty="0" err="1"/>
              <a:t>Bronze</a:t>
            </a:r>
            <a:br>
              <a:rPr lang="es-ES" b="1" dirty="0"/>
            </a:br>
            <a:endParaRPr lang="es-ES" sz="2000" dirty="0">
              <a:latin typeface="+mn-lt"/>
              <a:ea typeface="+mn-ea"/>
              <a:cs typeface="+mn-cs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E19E525-89E2-15D2-4F73-CF52922E30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601" y="1802296"/>
            <a:ext cx="11139464" cy="4077295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dirty="0"/>
              <a:t>Precio: 51,03€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dirty="0"/>
              <a:t>Potencia total: 450 W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dirty="0"/>
              <a:t>80 PLUS </a:t>
            </a:r>
            <a:r>
              <a:rPr lang="es-ES" dirty="0" err="1"/>
              <a:t>Bronze</a:t>
            </a:r>
            <a:r>
              <a:rPr lang="es-ES" dirty="0"/>
              <a:t> </a:t>
            </a:r>
            <a:r>
              <a:rPr lang="es-ES" dirty="0" err="1"/>
              <a:t>certified</a:t>
            </a:r>
            <a:endParaRPr lang="es-E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dirty="0"/>
              <a:t>Factor de forma: ATX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b-NO" dirty="0"/>
              <a:t>Protección OVP/OPP/SCP/UVP/OCP/OTP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dirty="0"/>
              <a:t>Single +12V rail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1200" dirty="0"/>
              <a:t>https://www.pccomponentes.com/gigabyte-p450b-450w-80-plus-bronze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s-ES" dirty="0"/>
          </a:p>
        </p:txBody>
      </p:sp>
      <p:pic>
        <p:nvPicPr>
          <p:cNvPr id="6146" name="Picture 2" descr="Fuente Alimentación Gigabyte P450B 450W 80 Plus Bronze | PcComponentes.com">
            <a:extLst>
              <a:ext uri="{FF2B5EF4-FFF2-40B4-BE49-F238E27FC236}">
                <a16:creationId xmlns:a16="http://schemas.microsoft.com/office/drawing/2014/main" id="{A971E592-C2E7-F57E-606D-14E99D22EF6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546" b="9048"/>
          <a:stretch>
            <a:fillRect/>
          </a:stretch>
        </p:blipFill>
        <p:spPr bwMode="auto">
          <a:xfrm>
            <a:off x="7355818" y="2422846"/>
            <a:ext cx="3761255" cy="28361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44471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020B5B-FED4-2384-79BD-7A868C7758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1C95E4-9B0F-B270-6331-AC878AE91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1" y="283729"/>
            <a:ext cx="10634472" cy="1570643"/>
          </a:xfrm>
        </p:spPr>
        <p:txBody>
          <a:bodyPr/>
          <a:lstStyle/>
          <a:p>
            <a:r>
              <a:rPr lang="es-ES" dirty="0"/>
              <a:t>CAJA: </a:t>
            </a:r>
            <a:r>
              <a:rPr lang="es-ES" sz="3600" dirty="0" err="1"/>
              <a:t>Nox</a:t>
            </a:r>
            <a:r>
              <a:rPr lang="es-ES" sz="3600" dirty="0"/>
              <a:t> </a:t>
            </a:r>
            <a:r>
              <a:rPr lang="es-ES" sz="3600" dirty="0" err="1"/>
              <a:t>Coolbay</a:t>
            </a:r>
            <a:r>
              <a:rPr lang="es-ES" sz="3600" dirty="0"/>
              <a:t> MX2</a:t>
            </a:r>
            <a:br>
              <a:rPr lang="es-ES" b="1" dirty="0"/>
            </a:br>
            <a:endParaRPr lang="es-ES" sz="2000" dirty="0">
              <a:latin typeface="+mn-lt"/>
              <a:ea typeface="+mn-ea"/>
              <a:cs typeface="+mn-cs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F41B35C-98D3-C8C2-DE35-ECFDC5BE06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601" y="1802296"/>
            <a:ext cx="11139464" cy="4077295"/>
          </a:xfrm>
        </p:spPr>
        <p:txBody>
          <a:bodyPr>
            <a:normAutofit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dirty="0"/>
              <a:t>Precio: 27,99€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dirty="0"/>
              <a:t>Tipo Mini torre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dirty="0"/>
              <a:t>Placa base Micro ATX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dirty="0" err="1"/>
              <a:t>Dimensiones</a:t>
            </a:r>
            <a:r>
              <a:rPr lang="fr-FR" dirty="0"/>
              <a:t> 198 x 396 x 400 mm (an x al x </a:t>
            </a:r>
            <a:r>
              <a:rPr lang="fr-FR" dirty="0" err="1"/>
              <a:t>pr</a:t>
            </a:r>
            <a:r>
              <a:rPr lang="fr-FR" dirty="0"/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dirty="0" err="1"/>
              <a:t>Admite</a:t>
            </a:r>
            <a:r>
              <a:rPr lang="fr-FR" dirty="0"/>
              <a:t> </a:t>
            </a:r>
            <a:r>
              <a:rPr lang="fr-FR" dirty="0" err="1"/>
              <a:t>fuentes</a:t>
            </a:r>
            <a:r>
              <a:rPr lang="fr-FR" dirty="0"/>
              <a:t> de </a:t>
            </a:r>
            <a:r>
              <a:rPr lang="fr-FR" dirty="0" err="1"/>
              <a:t>alimentación</a:t>
            </a:r>
            <a:r>
              <a:rPr lang="fr-FR" dirty="0"/>
              <a:t> ATX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sv-SE" dirty="0"/>
              <a:t>Bahías internas: 2x 3.5"; 2x 2.5”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sv-SE" dirty="0"/>
              <a:t>3x USB, HD Audio, Mic, Lector de tarjetas SD/microSD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1400" dirty="0"/>
              <a:t>https://www.pccomponentes.com/nox-coolbay-mx2-usb-30-negro?_gl=1</a:t>
            </a:r>
            <a:r>
              <a:rPr lang="es-ES" sz="1400" i="1" dirty="0"/>
              <a:t>*1105x1i*</a:t>
            </a:r>
            <a:r>
              <a:rPr lang="es-ES" sz="1400" dirty="0"/>
              <a:t>_up</a:t>
            </a:r>
            <a:r>
              <a:rPr lang="es-ES" sz="1400" i="1" dirty="0"/>
              <a:t>*MQ..*</a:t>
            </a:r>
            <a:r>
              <a:rPr lang="es-ES" sz="1400" dirty="0"/>
              <a:t>_</a:t>
            </a:r>
            <a:r>
              <a:rPr lang="es-ES" sz="1400" dirty="0" err="1"/>
              <a:t>gs</a:t>
            </a:r>
            <a:r>
              <a:rPr lang="es-ES" sz="1400" dirty="0"/>
              <a:t>*MQ..&amp;</a:t>
            </a:r>
            <a:r>
              <a:rPr lang="es-ES" sz="1400" dirty="0" err="1"/>
              <a:t>gclid</a:t>
            </a:r>
            <a:r>
              <a:rPr lang="es-ES" sz="1400" dirty="0"/>
              <a:t>=Cj0KCQiAqeDMBhDcARIsAJEbU9RIQRLdAlEGO17VBMbi37a5EqyKNalC8uMHr4nucxA46Va_NpDacCsaAvuuEALw_wcB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s-ES" dirty="0"/>
          </a:p>
        </p:txBody>
      </p:sp>
      <p:pic>
        <p:nvPicPr>
          <p:cNvPr id="4" name="Picture 2" descr="Torre PC Nox Coolbay MX2 USB 3.0 Negro | PcComponentes.com">
            <a:extLst>
              <a:ext uri="{FF2B5EF4-FFF2-40B4-BE49-F238E27FC236}">
                <a16:creationId xmlns:a16="http://schemas.microsoft.com/office/drawing/2014/main" id="{59E9EE2E-AB96-CD08-D8C7-152F356361C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04" r="10286"/>
          <a:stretch>
            <a:fillRect/>
          </a:stretch>
        </p:blipFill>
        <p:spPr bwMode="auto">
          <a:xfrm>
            <a:off x="8311132" y="973437"/>
            <a:ext cx="3039355" cy="3871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768334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E04E9E-69E8-9DB4-8CA1-16CE3D8FBB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438913"/>
            <a:ext cx="10634472" cy="1078992"/>
          </a:xfrm>
        </p:spPr>
        <p:txBody>
          <a:bodyPr/>
          <a:lstStyle/>
          <a:p>
            <a:r>
              <a:rPr lang="es-ES" dirty="0"/>
              <a:t>PRESUPUESTO FINAL</a:t>
            </a:r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045C84AD-BAE7-1A63-593B-2F832236B86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93811558"/>
              </p:ext>
            </p:extLst>
          </p:nvPr>
        </p:nvGraphicFramePr>
        <p:xfrm>
          <a:off x="905668" y="1577009"/>
          <a:ext cx="10380663" cy="465340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460221">
                  <a:extLst>
                    <a:ext uri="{9D8B030D-6E8A-4147-A177-3AD203B41FA5}">
                      <a16:colId xmlns:a16="http://schemas.microsoft.com/office/drawing/2014/main" val="92024517"/>
                    </a:ext>
                  </a:extLst>
                </a:gridCol>
                <a:gridCol w="3460221">
                  <a:extLst>
                    <a:ext uri="{9D8B030D-6E8A-4147-A177-3AD203B41FA5}">
                      <a16:colId xmlns:a16="http://schemas.microsoft.com/office/drawing/2014/main" val="2721527710"/>
                    </a:ext>
                  </a:extLst>
                </a:gridCol>
                <a:gridCol w="3460221">
                  <a:extLst>
                    <a:ext uri="{9D8B030D-6E8A-4147-A177-3AD203B41FA5}">
                      <a16:colId xmlns:a16="http://schemas.microsoft.com/office/drawing/2014/main" val="1153752039"/>
                    </a:ext>
                  </a:extLst>
                </a:gridCol>
              </a:tblGrid>
              <a:tr h="562207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COMPONENTE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MODELO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PRECIO (€)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7496506"/>
                  </a:ext>
                </a:extLst>
              </a:tr>
              <a:tr h="562207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CPU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Intel Core i3-12100 3.3 GHz</a:t>
                      </a:r>
                      <a:endParaRPr lang="es-E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158,99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09883429"/>
                  </a:ext>
                </a:extLst>
              </a:tr>
              <a:tr h="562207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MOTHERBOARD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MSI PRO H610M-G DDR4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73,99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58229993"/>
                  </a:ext>
                </a:extLst>
              </a:tr>
              <a:tr h="562207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RAM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 err="1"/>
                        <a:t>Goodram</a:t>
                      </a:r>
                      <a:r>
                        <a:rPr lang="es-ES" dirty="0"/>
                        <a:t> IRDM Pro DDR4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64,90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79574448"/>
                  </a:ext>
                </a:extLst>
              </a:tr>
              <a:tr h="639134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SSD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 err="1"/>
                        <a:t>Patriot</a:t>
                      </a:r>
                      <a:r>
                        <a:rPr lang="es-ES" dirty="0"/>
                        <a:t> P310 M.2 PCIe Gen 3 x4 240GB SSD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56,99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40247813"/>
                  </a:ext>
                </a:extLst>
              </a:tr>
              <a:tr h="639134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PSU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Gigabyte P450B 450W 80 Plus </a:t>
                      </a:r>
                      <a:r>
                        <a:rPr lang="es-ES" dirty="0" err="1"/>
                        <a:t>Bronze</a:t>
                      </a:r>
                      <a:endParaRPr lang="es-E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51,03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8307135"/>
                  </a:ext>
                </a:extLst>
              </a:tr>
              <a:tr h="562207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CHASIS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 err="1"/>
                        <a:t>Nox</a:t>
                      </a:r>
                      <a:r>
                        <a:rPr lang="es-ES" dirty="0"/>
                        <a:t> </a:t>
                      </a:r>
                      <a:r>
                        <a:rPr lang="es-ES" dirty="0" err="1"/>
                        <a:t>Coolbay</a:t>
                      </a:r>
                      <a:r>
                        <a:rPr lang="es-ES" dirty="0"/>
                        <a:t> MX2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27,99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9325273"/>
                  </a:ext>
                </a:extLst>
              </a:tr>
              <a:tr h="562207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TOTAL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s-E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433,89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417908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367944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E7A219-2E94-9154-7907-8F41B96F0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592" y="300826"/>
            <a:ext cx="10634472" cy="1122062"/>
          </a:xfrm>
        </p:spPr>
        <p:txBody>
          <a:bodyPr/>
          <a:lstStyle/>
          <a:p>
            <a:r>
              <a:rPr lang="es-ES" sz="6000" dirty="0"/>
              <a:t>COMPATIBILIDAD</a:t>
            </a:r>
            <a:endParaRPr lang="es-ES" dirty="0"/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7BF3B5C3-D9F3-6AC4-5787-64298CE667E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62706353"/>
              </p:ext>
            </p:extLst>
          </p:nvPr>
        </p:nvGraphicFramePr>
        <p:xfrm>
          <a:off x="643387" y="1331844"/>
          <a:ext cx="7005108" cy="459982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502554">
                  <a:extLst>
                    <a:ext uri="{9D8B030D-6E8A-4147-A177-3AD203B41FA5}">
                      <a16:colId xmlns:a16="http://schemas.microsoft.com/office/drawing/2014/main" val="1311973306"/>
                    </a:ext>
                  </a:extLst>
                </a:gridCol>
                <a:gridCol w="3502554">
                  <a:extLst>
                    <a:ext uri="{9D8B030D-6E8A-4147-A177-3AD203B41FA5}">
                      <a16:colId xmlns:a16="http://schemas.microsoft.com/office/drawing/2014/main" val="504046654"/>
                    </a:ext>
                  </a:extLst>
                </a:gridCol>
              </a:tblGrid>
              <a:tr h="496956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MOTHERBOARD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COMPATIBLE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7612368"/>
                  </a:ext>
                </a:extLst>
              </a:tr>
              <a:tr h="496956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Socket: LGA 1700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CPU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0052776"/>
                  </a:ext>
                </a:extLst>
              </a:tr>
              <a:tr h="49695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800" dirty="0"/>
                        <a:t>Memoria compatible: DDR4-SDRAM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800" dirty="0"/>
                        <a:t>Velocidad máxima: 3200 MHz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RAM</a:t>
                      </a:r>
                    </a:p>
                    <a:p>
                      <a:pPr algn="ctr"/>
                      <a:r>
                        <a:rPr lang="es-ES" dirty="0"/>
                        <a:t>(Cuello de botella en velocidad por 3600MHz)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08447562"/>
                  </a:ext>
                </a:extLst>
              </a:tr>
              <a:tr h="49695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800" dirty="0"/>
                        <a:t>Tipo de almacenamiento soportados: M.2,SATA III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SSD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122040"/>
                  </a:ext>
                </a:extLst>
              </a:tr>
              <a:tr h="49695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dirty="0"/>
                        <a:t>Conector ATX 24 pines y </a:t>
                      </a:r>
                      <a:r>
                        <a:rPr lang="es-E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conector de la CPU EPS 8 pines</a:t>
                      </a:r>
                      <a:r>
                        <a:rPr lang="es-ES" dirty="0"/>
                        <a:t>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PSU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09427194"/>
                  </a:ext>
                </a:extLst>
              </a:tr>
              <a:tr h="496956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Factor de forma: </a:t>
                      </a:r>
                      <a:r>
                        <a:rPr lang="es-ES" dirty="0" err="1"/>
                        <a:t>microATX</a:t>
                      </a:r>
                      <a:endParaRPr lang="es-E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Chasis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94452241"/>
                  </a:ext>
                </a:extLst>
              </a:tr>
              <a:tr h="49695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800" dirty="0"/>
                        <a:t>Puertos HDMI, DisplayPort, VGA, RJ-45 y USB 2.0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Pantallas de cualquier tipo, acceso a internet y gran conectividad para periféricos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7299"/>
                  </a:ext>
                </a:extLst>
              </a:tr>
            </a:tbl>
          </a:graphicData>
        </a:graphic>
      </p:graphicFrame>
      <p:sp>
        <p:nvSpPr>
          <p:cNvPr id="7" name="CuadroTexto 6">
            <a:extLst>
              <a:ext uri="{FF2B5EF4-FFF2-40B4-BE49-F238E27FC236}">
                <a16:creationId xmlns:a16="http://schemas.microsoft.com/office/drawing/2014/main" id="{CA348633-8145-52AD-716E-8328B6C5286C}"/>
              </a:ext>
            </a:extLst>
          </p:cNvPr>
          <p:cNvSpPr txBox="1"/>
          <p:nvPr/>
        </p:nvSpPr>
        <p:spPr>
          <a:xfrm>
            <a:off x="8181716" y="2274838"/>
            <a:ext cx="288234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Además, el chasis elegido es perfecto para que quepan todos los componentes como la placa base ya que es una mini </a:t>
            </a:r>
            <a:r>
              <a:rPr lang="es-ES" dirty="0" err="1"/>
              <a:t>tower</a:t>
            </a:r>
            <a:r>
              <a:rPr lang="es-ES" dirty="0"/>
              <a:t> y también permite fuentes de alimentación de tipo ATX</a:t>
            </a:r>
          </a:p>
        </p:txBody>
      </p:sp>
    </p:spTree>
    <p:extLst>
      <p:ext uri="{BB962C8B-B14F-4D97-AF65-F5344CB8AC3E}">
        <p14:creationId xmlns:p14="http://schemas.microsoft.com/office/powerpoint/2010/main" val="14692507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0984AE-77DD-652A-4F5C-B2F49DF585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BFC5C8-C2C7-CF5D-37C5-6D0EB0E35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816" y="780686"/>
            <a:ext cx="10684366" cy="2568804"/>
          </a:xfrm>
        </p:spPr>
        <p:txBody>
          <a:bodyPr/>
          <a:lstStyle/>
          <a:p>
            <a:pPr algn="ctr"/>
            <a:r>
              <a:rPr lang="es-ES" dirty="0"/>
              <a:t>OPCION B: Mini PC ya construido</a:t>
            </a: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EEF90C26-3638-9F6D-59AF-D1D5BBF489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2504" y="3574777"/>
            <a:ext cx="10506991" cy="2572721"/>
          </a:xfrm>
        </p:spPr>
        <p:txBody>
          <a:bodyPr/>
          <a:lstStyle/>
          <a:p>
            <a:r>
              <a:rPr lang="es-ES" dirty="0"/>
              <a:t>He buscado una opción que tenga características similares al PC montado por piezas.</a:t>
            </a:r>
          </a:p>
        </p:txBody>
      </p:sp>
    </p:spTree>
    <p:extLst>
      <p:ext uri="{BB962C8B-B14F-4D97-AF65-F5344CB8AC3E}">
        <p14:creationId xmlns:p14="http://schemas.microsoft.com/office/powerpoint/2010/main" val="995322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28DABC-29BC-857D-FBA6-6B08921699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F6216C-3004-6123-4AC7-8ED870B6C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1" y="682227"/>
            <a:ext cx="11040164" cy="1570643"/>
          </a:xfrm>
        </p:spPr>
        <p:txBody>
          <a:bodyPr/>
          <a:lstStyle/>
          <a:p>
            <a:r>
              <a:rPr lang="es-ES" sz="6000" dirty="0" err="1"/>
              <a:t>Beelink</a:t>
            </a:r>
            <a:r>
              <a:rPr lang="es-ES" sz="6000" dirty="0"/>
              <a:t> Mini S12 Intel N95 / 8GB / 256GB SSD</a:t>
            </a:r>
            <a:br>
              <a:rPr lang="es-ES" sz="6000" dirty="0"/>
            </a:br>
            <a:endParaRPr lang="es-ES" sz="1800" dirty="0">
              <a:latin typeface="+mn-lt"/>
              <a:ea typeface="+mn-ea"/>
              <a:cs typeface="+mn-cs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9D9FD77-2E9C-80C3-0A07-42AD589FE3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601" y="2490383"/>
            <a:ext cx="11139464" cy="4077295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dirty="0"/>
              <a:t>Precio: 269,00€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dirty="0"/>
              <a:t>CPU: Intel 12th Gen Alder Lake-N95 (4C/4T, 6M Cache, 1.7GHz a 3.4GHz)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dirty="0"/>
              <a:t>RAM: 8 GB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dirty="0"/>
              <a:t>SSD/almacenamiento: 256 GB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dirty="0"/>
              <a:t>Conectividad: Bluetooth, 4xUSB3.2, 2xHDMI, RJ-45, WiFi5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dirty="0"/>
              <a:t>Dimensiones: 11.5 x 10.2 x 3.9 cm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1200" dirty="0"/>
              <a:t>https://www.pccomponentes.com/mini-pc-beelink-mini-s12-intel-n95-8gb-256gb-ssd?srsltid=AfmBOorFktFje_9Y2eP-8KI1QTDT5CeKraUxZi2oPJFDu5l-m8J_kLbK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s-ES" dirty="0"/>
          </a:p>
        </p:txBody>
      </p:sp>
      <p:pic>
        <p:nvPicPr>
          <p:cNvPr id="5" name="Picture 4" descr="Beelink Mini S12 Mini PC, Intel Alder Lake-N N95 (4C/4T, hasta 3,4GHz) 16GB  DDR4 RAM 500GB M.2 2280 SSD, Mini Ordenador de Sobremesa 4K 60Hz Doble  HDMI, WiFi5, Bluetooth 4.2, 2.5G LAN :">
            <a:extLst>
              <a:ext uri="{FF2B5EF4-FFF2-40B4-BE49-F238E27FC236}">
                <a16:creationId xmlns:a16="http://schemas.microsoft.com/office/drawing/2014/main" id="{7A4D5AEE-73EE-FC78-A355-CFC992E109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74198" y="3429000"/>
            <a:ext cx="2635201" cy="20456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998833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09EE5E-C9E5-CBA4-C15E-447967E46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E22AE14F-1F43-66A6-3A7D-07ED8CB509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0481974"/>
              </p:ext>
            </p:extLst>
          </p:nvPr>
        </p:nvGraphicFramePr>
        <p:xfrm>
          <a:off x="672593" y="642714"/>
          <a:ext cx="10846814" cy="557257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423407">
                  <a:extLst>
                    <a:ext uri="{9D8B030D-6E8A-4147-A177-3AD203B41FA5}">
                      <a16:colId xmlns:a16="http://schemas.microsoft.com/office/drawing/2014/main" val="70879421"/>
                    </a:ext>
                  </a:extLst>
                </a:gridCol>
                <a:gridCol w="5423407">
                  <a:extLst>
                    <a:ext uri="{9D8B030D-6E8A-4147-A177-3AD203B41FA5}">
                      <a16:colId xmlns:a16="http://schemas.microsoft.com/office/drawing/2014/main" val="2225488208"/>
                    </a:ext>
                  </a:extLst>
                </a:gridCol>
              </a:tblGrid>
              <a:tr h="511501">
                <a:tc>
                  <a:txBody>
                    <a:bodyPr/>
                    <a:lstStyle/>
                    <a:p>
                      <a:pPr algn="ctr"/>
                      <a:r>
                        <a:rPr lang="es-ES" sz="2800" dirty="0"/>
                        <a:t>VENTAJAS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800" dirty="0"/>
                        <a:t>DESVENTAJAS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2861074"/>
                  </a:ext>
                </a:extLst>
              </a:tr>
              <a:tr h="16429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Precio, el precio es menor al del PC por partes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Tiene menos potencia por sus núcleos enfocados en que consuman poco, mientras que los del i3-12100 tiene núcleos enfocados en la potencia. Por lo que para tareas pesadas o multitarea el mini PC pierde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09301741"/>
                  </a:ext>
                </a:extLst>
              </a:tr>
              <a:tr h="11371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Tamaño, menor y además posibilidad de colocarlo en el anclaje VESA tras monitor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 tiene Dual </a:t>
                      </a:r>
                      <a:r>
                        <a:rPr lang="es-ES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Channel</a:t>
                      </a:r>
                      <a:r>
                        <a:rPr lang="es-E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por lo que la velocidad de conexión entre la RAM y la CPU va a ser la mitad de rápida si se le instala un modulo más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8971820"/>
                  </a:ext>
                </a:extLst>
              </a:tr>
              <a:tr h="11371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Posee la capacidad de aumentar la RAM ya que tiene otra ranura para DDR4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El PC por piezas tiene la posibilidad de añadirle una tarjeta gráfica o una tarjeta de expansión mientras que el mini PC no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74609955"/>
                  </a:ext>
                </a:extLst>
              </a:tr>
              <a:tr h="11371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Posee la capacidad de aumentar el almacenamiento ya que tiene otra ranura para un M.2 PCIe x1 y otra ranura para un SATA HDD/SDD de 2.5 pulgadas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El mini PC tiene un disipador muy pequeño por lo que si se está trabajando a máxima potencia mucho tiempo se calentará bastante.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893448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028352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EA13CF-0948-05B1-47FC-9D0F32399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494704"/>
            <a:ext cx="10634472" cy="850392"/>
          </a:xfrm>
        </p:spPr>
        <p:txBody>
          <a:bodyPr/>
          <a:lstStyle/>
          <a:p>
            <a:r>
              <a:rPr lang="es-ES" dirty="0"/>
              <a:t>COMPARACIÓN FINAL</a:t>
            </a:r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8F1119F2-2360-215A-72E0-8B4DCA2A6B9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1551603"/>
              </p:ext>
            </p:extLst>
          </p:nvPr>
        </p:nvGraphicFramePr>
        <p:xfrm>
          <a:off x="546005" y="1345096"/>
          <a:ext cx="10507662" cy="4931571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502554">
                  <a:extLst>
                    <a:ext uri="{9D8B030D-6E8A-4147-A177-3AD203B41FA5}">
                      <a16:colId xmlns:a16="http://schemas.microsoft.com/office/drawing/2014/main" val="3059965343"/>
                    </a:ext>
                  </a:extLst>
                </a:gridCol>
                <a:gridCol w="3502554">
                  <a:extLst>
                    <a:ext uri="{9D8B030D-6E8A-4147-A177-3AD203B41FA5}">
                      <a16:colId xmlns:a16="http://schemas.microsoft.com/office/drawing/2014/main" val="2012015219"/>
                    </a:ext>
                  </a:extLst>
                </a:gridCol>
                <a:gridCol w="3502554">
                  <a:extLst>
                    <a:ext uri="{9D8B030D-6E8A-4147-A177-3AD203B41FA5}">
                      <a16:colId xmlns:a16="http://schemas.microsoft.com/office/drawing/2014/main" val="1251533944"/>
                    </a:ext>
                  </a:extLst>
                </a:gridCol>
              </a:tblGrid>
              <a:tr h="351521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ASPECTO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OPCIÓN A (POR PIEZAS)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OPCIÓN B (Mini PC)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34284180"/>
                  </a:ext>
                </a:extLst>
              </a:tr>
              <a:tr h="607537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Precio total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433,89€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269,00€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1179351"/>
                  </a:ext>
                </a:extLst>
              </a:tr>
              <a:tr h="878802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Rendimiento esperado (oficina)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Excelente, buena potencia y permite multitarea y mucha fluidez en Office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Suficiente, ideal para realizar una solo tarea, en multitarea muy lento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6506492"/>
                  </a:ext>
                </a:extLst>
              </a:tr>
              <a:tr h="607537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Ampliación (RAM/SSD)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Sí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Sí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3237820"/>
                  </a:ext>
                </a:extLst>
              </a:tr>
              <a:tr h="878802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Consumo/ruido/espacio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~150W / ruido leve por ventiladores / Mini Tower(medio)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~15W / silencioso / muy poco espacio, posibilidad de colocarlo en el anclaje VESA tras monitor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85572266"/>
                  </a:ext>
                </a:extLst>
              </a:tr>
              <a:tr h="878802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Facilidad de despliegue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Requiere montaje, gestión de cables e instalación de S.O. y drivers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Viene montado, con S.O. preinstalado y listo para usar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36093200"/>
                  </a:ext>
                </a:extLst>
              </a:tr>
              <a:tr h="607537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Garantía/soporte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Por componentes (3 años)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Por componentes (3 años)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238486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7856348"/>
      </p:ext>
    </p:extLst>
  </p:cSld>
  <p:clrMapOvr>
    <a:masterClrMapping/>
  </p:clrMapOvr>
</p:sld>
</file>

<file path=ppt/theme/theme1.xml><?xml version="1.0" encoding="utf-8"?>
<a:theme xmlns:a="http://schemas.openxmlformats.org/drawingml/2006/main" name="LevelVTI">
  <a:themeElements>
    <a:clrScheme name="Custom 88">
      <a:dk1>
        <a:sysClr val="windowText" lastClr="000000"/>
      </a:dk1>
      <a:lt1>
        <a:sysClr val="window" lastClr="FFFFFF"/>
      </a:lt1>
      <a:dk2>
        <a:srgbClr val="182230"/>
      </a:dk2>
      <a:lt2>
        <a:srgbClr val="F2F2F2"/>
      </a:lt2>
      <a:accent1>
        <a:srgbClr val="00BAC8"/>
      </a:accent1>
      <a:accent2>
        <a:srgbClr val="794DFF"/>
      </a:accent2>
      <a:accent3>
        <a:srgbClr val="00D17D"/>
      </a:accent3>
      <a:accent4>
        <a:srgbClr val="E69500"/>
      </a:accent4>
      <a:accent5>
        <a:srgbClr val="FE5D21"/>
      </a:accent5>
      <a:accent6>
        <a:srgbClr val="939393"/>
      </a:accent6>
      <a:hlink>
        <a:srgbClr val="3E8FF1"/>
      </a:hlink>
      <a:folHlink>
        <a:srgbClr val="939393"/>
      </a:folHlink>
    </a:clrScheme>
    <a:fontScheme name="Seaford">
      <a:majorFont>
        <a:latin typeface="Seaford"/>
        <a:ea typeface=""/>
        <a:cs typeface=""/>
      </a:majorFont>
      <a:minorFont>
        <a:latin typeface="Seafor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evelVTI" id="{64F43929-0387-4D33-907F-72B939BCAF99}" vid="{D804DF84-3298-4A39-BA0E-21F83D68BC2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1155</Words>
  <Application>Microsoft Office PowerPoint</Application>
  <PresentationFormat>Panorámica</PresentationFormat>
  <Paragraphs>146</Paragraphs>
  <Slides>15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8" baseType="lpstr">
      <vt:lpstr>Arial</vt:lpstr>
      <vt:lpstr>Seaford</vt:lpstr>
      <vt:lpstr>LevelVTI</vt:lpstr>
      <vt:lpstr>PC OFICINA Y MINI PC</vt:lpstr>
      <vt:lpstr>OBJETIVO Y REQUISITOS</vt:lpstr>
      <vt:lpstr>OPCIÓN A: PC por piezas</vt:lpstr>
      <vt:lpstr>CPU: Intel Core i3-12100</vt:lpstr>
      <vt:lpstr>MOTHERBOARD:  MSI PRO H610M-G DDR4</vt:lpstr>
      <vt:lpstr>RAM: Goodram IRDM Pro DDR4 </vt:lpstr>
      <vt:lpstr>SSD: Patriot P310 M.2 PCIe Gen 3 x4 240GB SSD </vt:lpstr>
      <vt:lpstr>PSU: Gigabyte P450B 450W 80 Plus Bronze </vt:lpstr>
      <vt:lpstr>CAJA: Nox Coolbay MX2 </vt:lpstr>
      <vt:lpstr>PRESUPUESTO FINAL</vt:lpstr>
      <vt:lpstr>COMPATIBILIDAD</vt:lpstr>
      <vt:lpstr>OPCION B: Mini PC ya construido</vt:lpstr>
      <vt:lpstr>Beelink Mini S12 Intel N95 / 8GB / 256GB SSD </vt:lpstr>
      <vt:lpstr>Presentación de PowerPoint</vt:lpstr>
      <vt:lpstr>COMPARACIÓN FINAL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Miguel Raposo</dc:creator>
  <cp:lastModifiedBy>Miguel Raposo</cp:lastModifiedBy>
  <cp:revision>1</cp:revision>
  <dcterms:created xsi:type="dcterms:W3CDTF">2026-02-20T19:39:14Z</dcterms:created>
  <dcterms:modified xsi:type="dcterms:W3CDTF">2026-02-20T21:19:07Z</dcterms:modified>
</cp:coreProperties>
</file>